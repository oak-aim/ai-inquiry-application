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7" r:id="rId4"/>
    <p:sldId id="266" r:id="rId5"/>
    <p:sldId id="267" r:id="rId6"/>
    <p:sldId id="263" r:id="rId7"/>
    <p:sldId id="264" r:id="rId8"/>
    <p:sldId id="265" r:id="rId9"/>
    <p:sldId id="262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8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33680F-5582-3224-9666-CFB86C7767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83D58BB-8E1C-57EE-0CB2-20952DF48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A514AB-D4B4-7B43-3CF1-72F1FE8EF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EE548B-5981-B517-BE8E-EAA7F10B9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507301-E869-88CD-781C-BFD9D2F4F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367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A307D1-9553-C07A-EC0B-67D48028D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36E8D4-2612-6D5D-CA59-998A18199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6146876-76B9-9324-0B8A-EE558B90B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FF1D14-C826-EDB0-177E-E609C8303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C3759F-BB24-80D5-F8DF-23B71D8DA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1820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47FA21-CEF6-B435-511C-A7C295E92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9E413E-8360-FC74-6D35-214BD7D1E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79E0CD-EC72-8EF7-D56C-9FFC74DB6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46E4FC-1EE3-C316-7CFF-46221BCB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62E182-C18B-8C97-B926-5056C430C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006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34990D-8D0A-6067-D3AB-00B68EE8C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1E38FB-F600-DD62-4BB3-0879E346B6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14FD99-EB5F-C7A2-2B30-CD9D11594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2603CC6-E50C-1800-6FD3-8D4B3A35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85BD01-B680-91D1-004A-4E2C078E6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538CDE0-0E87-837B-66BF-3B6185509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735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43D99E-6475-4F70-7F6C-1670D208D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1A73464-E350-BEF7-BB0A-456D18A06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653F9CE-C2DB-3B09-B8A2-718EBDDD1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8F43A2-568C-D51D-A09A-11BC2D73F6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945082-E806-639B-D20E-C610E29ED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216E87D-1435-0AB1-59B1-4B1C3106B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1A90233-8CE3-AD0C-CEF8-29D2A9B9F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763DB91-3F7A-0939-6C9E-B166FAACB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9643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6BBC1A-4B56-45CC-6252-5F52BF28D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DDFECF1-9516-D540-667E-E9E916EC8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B0B9760-4980-BEEB-F758-F3B4CFCC6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15EC6A7-8728-89E5-735A-30DDC811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0988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5ED5518-9E53-94D8-79E9-015B74A04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2B5506D-88A0-CC90-66CE-4D37964C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931894-974F-5A03-3B71-1EC3AB0BF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05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B5DC8D-2219-01E2-AB04-F4A04C1D1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E28BC6-48B5-C420-B8BC-BD0B9015D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C24AC4-CDD8-42DB-67E1-B20991DEB9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0650B12-740D-F954-2BA5-22A8EDC66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DE8289-5570-CD7A-D6B0-FE17613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8E4F4F-A9EA-D281-83E1-B4CA75FEA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2707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C3349A-424B-89F2-43F0-CD4F348FA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D0C6F7B-7678-35A1-F78F-EE691EB90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D6B54E3-2CA4-BC20-5A52-C9DB951C06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4455A81-BAD9-A4AE-9E0B-1B5A40978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FB99A71-DBD3-4D49-D20E-BCC949406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CF5EC0-F2F8-7A9A-8FFD-D7DB1086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0744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446842-A66A-4B3A-E1D0-16A430A43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3354528-9226-5C34-114F-F5A6162913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5DB47D-D59F-8C4C-5E59-87CFF587D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D71425-38C4-A987-6B9F-ED479ACA4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CF9FF3-F498-46E5-F036-B37850E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1624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B1E6DDB-3F14-0FF7-01DB-B48A936418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2D8D77A-EC9E-582F-5EE7-2F9406DB22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B4CD87-F194-7260-304F-F7280197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EA295D-8FB7-7EA6-5D10-4C714549B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2A6816-3500-8B3B-B28F-A8EA45BC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7743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95FF16-680E-086D-CF20-E1FF885C7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3AA07AF-A357-C0A0-9DB1-D6A58BF97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DA69AFF-EE3F-E21C-2D7C-84A8ADE5C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0E6282-4B64-4E87-8A94-CB9CE9CC94F1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9E28BE-90C3-4D8D-3C60-8599BD92E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E162A0-3ADB-F7AB-E0EE-5F7E40213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C5641-78CE-49DB-898A-FE4999544C6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334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501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BBA9658-BAAF-2EE2-9E7A-B38A9E775798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86C1DD3-EE5C-A334-70EA-2E390DE9BB02}"/>
              </a:ext>
            </a:extLst>
          </p:cNvPr>
          <p:cNvSpPr txBox="1"/>
          <p:nvPr/>
        </p:nvSpPr>
        <p:spPr>
          <a:xfrm>
            <a:off x="320675" y="1238373"/>
            <a:ext cx="25511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1.1 </a:t>
            </a:r>
            <a:r>
              <a:rPr lang="ja-JP" altLang="en-US" sz="2400" b="1" dirty="0"/>
              <a:t>システム概要</a:t>
            </a:r>
            <a:endParaRPr lang="en-US" altLang="ja-JP" sz="2400" b="1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459B618-311E-B6B3-2836-42E7070F0AC3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E0BF671-2FBC-6ABB-4905-62B0B9FECB9C}"/>
              </a:ext>
            </a:extLst>
          </p:cNvPr>
          <p:cNvSpPr txBox="1"/>
          <p:nvPr/>
        </p:nvSpPr>
        <p:spPr>
          <a:xfrm>
            <a:off x="320674" y="1924651"/>
            <a:ext cx="115023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従来は業務内の問い合わせが口頭で行われた。</a:t>
            </a:r>
            <a:endParaRPr kumimoji="1"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dirty="0"/>
              <a:t>そのため、管理できず、過去回答の参照が困難であった。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dirty="0"/>
              <a:t>本システムでは、問い合わせ内容を一元管理し、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カテゴリー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緊急度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回答案　</a:t>
            </a:r>
            <a:endParaRPr lang="en-US" altLang="ja-JP" sz="2000" dirty="0"/>
          </a:p>
          <a:p>
            <a:r>
              <a:rPr lang="en-US" altLang="ja-JP" sz="2000" dirty="0"/>
              <a:t>Gemini</a:t>
            </a:r>
            <a:r>
              <a:rPr lang="ja-JP" altLang="en-US" sz="2000" dirty="0"/>
              <a:t> </a:t>
            </a:r>
            <a:r>
              <a:rPr lang="en-US" altLang="ja-JP" sz="2000" dirty="0"/>
              <a:t>AI </a:t>
            </a:r>
            <a:r>
              <a:rPr lang="ja-JP" altLang="en-US" sz="2000" dirty="0"/>
              <a:t>によって自動判定を行う</a:t>
            </a:r>
            <a:endParaRPr lang="en-US" altLang="ja-JP" sz="2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83FA2D2-B02A-C820-43A8-70E9D8976AE1}"/>
              </a:ext>
            </a:extLst>
          </p:cNvPr>
          <p:cNvSpPr txBox="1"/>
          <p:nvPr/>
        </p:nvSpPr>
        <p:spPr>
          <a:xfrm>
            <a:off x="714261" y="5428742"/>
            <a:ext cx="10565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FF0000"/>
                </a:solidFill>
              </a:rPr>
              <a:t>我々が過去の対応履歴を参照可能とすることで迅速かつ効率的な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pPr algn="ctr"/>
            <a:r>
              <a:rPr lang="ja-JP" altLang="en-US" sz="2400" b="1" dirty="0">
                <a:solidFill>
                  <a:srgbClr val="FF0000"/>
                </a:solidFill>
              </a:rPr>
              <a:t>問い合わせ対応を実現する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6328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BE6065-CD51-83D4-18AF-47C478C0A733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DD14413-58A0-5378-1C1D-3709D5CE0549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A12C2F7-265A-F64E-57EE-55729D7E50DE}"/>
              </a:ext>
            </a:extLst>
          </p:cNvPr>
          <p:cNvSpPr txBox="1"/>
          <p:nvPr/>
        </p:nvSpPr>
        <p:spPr>
          <a:xfrm>
            <a:off x="320675" y="1238373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1.2 </a:t>
            </a:r>
            <a:r>
              <a:rPr lang="ja-JP" altLang="en-US" sz="2400" b="1" dirty="0"/>
              <a:t>システム構成・技術</a:t>
            </a:r>
            <a:endParaRPr lang="en-US" altLang="ja-JP" sz="24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3F92A8-8339-37C5-FB27-E92865B65C93}"/>
              </a:ext>
            </a:extLst>
          </p:cNvPr>
          <p:cNvSpPr txBox="1"/>
          <p:nvPr/>
        </p:nvSpPr>
        <p:spPr>
          <a:xfrm>
            <a:off x="320675" y="1972778"/>
            <a:ext cx="1135221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ja-JP" altLang="en-US" sz="2000" dirty="0"/>
              <a:t>フロントエンド</a:t>
            </a:r>
            <a:endParaRPr lang="en-US" altLang="ja-JP" sz="2000" dirty="0"/>
          </a:p>
          <a:p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サイドバー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 </a:t>
            </a:r>
            <a:r>
              <a:rPr lang="ja-JP" altLang="en-US" sz="2000" dirty="0"/>
              <a:t>問い合わせ入力画面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一覧表示画面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詳細画面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en-US" altLang="ja-JP" sz="2000" dirty="0" err="1"/>
              <a:t>FastAPI</a:t>
            </a:r>
            <a:r>
              <a:rPr lang="en-US" altLang="ja-JP" sz="2000" dirty="0"/>
              <a:t> </a:t>
            </a:r>
            <a:r>
              <a:rPr lang="ja-JP" altLang="en-US" sz="2000" dirty="0"/>
              <a:t>を起動し、</a:t>
            </a:r>
            <a:r>
              <a:rPr lang="en-US" altLang="ja-JP" sz="2000" dirty="0">
                <a:hlinkClick r:id="rId2"/>
              </a:rPr>
              <a:t>http://localhost:8501</a:t>
            </a:r>
            <a:r>
              <a:rPr lang="en-US" altLang="ja-JP" sz="2000" dirty="0"/>
              <a:t> </a:t>
            </a:r>
            <a:r>
              <a:rPr lang="ja-JP" altLang="en-US" sz="2000" dirty="0"/>
              <a:t>を開いたら、問い合わせ入力画面が表示される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問い合わせ入力画面からサイドバーを開き、一覧画面へ遷移して「詳細」ボタンから詳細画面を表示できる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詳細画面からは一覧画面へ戻る＊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一覧画面および詳細画面から、サイドバーを通じて問い合わせ入力画面へ遷移できる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56174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BE6065-CD51-83D4-18AF-47C478C0A733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DD14413-58A0-5378-1C1D-3709D5CE0549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A12C2F7-265A-F64E-57EE-55729D7E50DE}"/>
              </a:ext>
            </a:extLst>
          </p:cNvPr>
          <p:cNvSpPr txBox="1"/>
          <p:nvPr/>
        </p:nvSpPr>
        <p:spPr>
          <a:xfrm>
            <a:off x="320675" y="1238373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1.2 </a:t>
            </a:r>
            <a:r>
              <a:rPr lang="ja-JP" altLang="en-US" sz="2400" b="1" dirty="0"/>
              <a:t>システム構成・技術</a:t>
            </a:r>
            <a:endParaRPr lang="en-US" altLang="ja-JP" sz="24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3F92A8-8339-37C5-FB27-E92865B65C93}"/>
              </a:ext>
            </a:extLst>
          </p:cNvPr>
          <p:cNvSpPr txBox="1"/>
          <p:nvPr/>
        </p:nvSpPr>
        <p:spPr>
          <a:xfrm>
            <a:off x="320675" y="1924652"/>
            <a:ext cx="914056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2.    </a:t>
            </a:r>
            <a:r>
              <a:rPr lang="ja-JP" altLang="en-US" sz="2000" dirty="0"/>
              <a:t>画面ごとの操作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サイドバー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 </a:t>
            </a:r>
            <a:r>
              <a:rPr lang="ja-JP" altLang="en-US" sz="2000" dirty="0"/>
              <a:t>問い合わせ入力画面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一覧表示画面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r>
              <a:rPr lang="ja-JP" altLang="en-US" sz="2000" dirty="0"/>
              <a:t>問い合わせ入力画面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ユーザー（社員）が問い合わせ内容のテキストエリアにキーボードから問い合わせ入力する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Gemini</a:t>
            </a:r>
            <a:r>
              <a:rPr lang="ja-JP" altLang="en-US" sz="2000" dirty="0"/>
              <a:t> </a:t>
            </a:r>
            <a:r>
              <a:rPr lang="en-US" altLang="ja-JP" sz="2000" dirty="0"/>
              <a:t>AI </a:t>
            </a:r>
            <a:r>
              <a:rPr lang="ja-JP" altLang="en-US" sz="2000" dirty="0"/>
              <a:t>によって、カテゴリー（</a:t>
            </a:r>
            <a:r>
              <a:rPr lang="en-US" altLang="ja-JP" sz="2000" dirty="0"/>
              <a:t>6</a:t>
            </a:r>
            <a:r>
              <a:rPr lang="ja-JP" altLang="en-US" sz="2000" dirty="0"/>
              <a:t>段階）、緊急度（</a:t>
            </a:r>
            <a:r>
              <a:rPr lang="en-US" altLang="ja-JP" sz="2000" dirty="0"/>
              <a:t>3</a:t>
            </a:r>
            <a:r>
              <a:rPr lang="ja-JP" altLang="en-US" sz="2000" dirty="0"/>
              <a:t>段階）、回答案を分析し、自動生成する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Gemini</a:t>
            </a:r>
            <a:r>
              <a:rPr lang="ja-JP" altLang="en-US" sz="2000" dirty="0"/>
              <a:t> </a:t>
            </a:r>
            <a:r>
              <a:rPr lang="en-US" altLang="ja-JP" sz="2000" dirty="0"/>
              <a:t>AI </a:t>
            </a:r>
            <a:r>
              <a:rPr lang="ja-JP" altLang="en-US" sz="2000" dirty="0"/>
              <a:t>の回答をローカル</a:t>
            </a:r>
            <a:r>
              <a:rPr lang="en-US" altLang="ja-JP" sz="2000" dirty="0"/>
              <a:t>PC </a:t>
            </a:r>
            <a:r>
              <a:rPr lang="ja-JP" altLang="en-US" sz="2000" dirty="0"/>
              <a:t>の </a:t>
            </a:r>
            <a:r>
              <a:rPr lang="en-US" altLang="ja-JP" sz="2000" dirty="0"/>
              <a:t>data/</a:t>
            </a:r>
            <a:r>
              <a:rPr lang="en-US" altLang="ja-JP" sz="2000" dirty="0" err="1"/>
              <a:t>inquiries.json</a:t>
            </a:r>
            <a:r>
              <a:rPr lang="en-US" altLang="ja-JP" sz="2000" dirty="0"/>
              <a:t> </a:t>
            </a:r>
            <a:r>
              <a:rPr lang="ja-JP" altLang="en-US" sz="2000" dirty="0"/>
              <a:t>で一元管理する　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4219146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F795E6-70BC-9127-58CB-3E019711D23F}"/>
              </a:ext>
            </a:extLst>
          </p:cNvPr>
          <p:cNvSpPr txBox="1"/>
          <p:nvPr/>
        </p:nvSpPr>
        <p:spPr>
          <a:xfrm>
            <a:off x="320675" y="182137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F993FFC-D9C3-B866-9BF5-8340BB56B6E5}"/>
              </a:ext>
            </a:extLst>
          </p:cNvPr>
          <p:cNvCxnSpPr/>
          <p:nvPr/>
        </p:nvCxnSpPr>
        <p:spPr>
          <a:xfrm>
            <a:off x="371601" y="856458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773E04C-196E-A5A0-F9D4-F6CE40E91583}"/>
              </a:ext>
            </a:extLst>
          </p:cNvPr>
          <p:cNvSpPr txBox="1"/>
          <p:nvPr/>
        </p:nvSpPr>
        <p:spPr>
          <a:xfrm>
            <a:off x="320675" y="970886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1.2 </a:t>
            </a:r>
            <a:r>
              <a:rPr lang="ja-JP" altLang="en-US" sz="2400" b="1" dirty="0"/>
              <a:t>システム構成・技術</a:t>
            </a:r>
            <a:endParaRPr lang="en-US" altLang="ja-JP" sz="2400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4101FAE-7AFC-F0F8-9357-90C3E25FC7F7}"/>
              </a:ext>
            </a:extLst>
          </p:cNvPr>
          <p:cNvSpPr txBox="1"/>
          <p:nvPr/>
        </p:nvSpPr>
        <p:spPr>
          <a:xfrm>
            <a:off x="320675" y="1561877"/>
            <a:ext cx="1183907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2.    </a:t>
            </a:r>
            <a:r>
              <a:rPr lang="ja-JP" altLang="en-US" sz="2000" dirty="0"/>
              <a:t>画面ごとの操作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一覧表示画面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サイドバーの方から「一覧表示」ラジオボタンで遷移する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問い合わせ一覧を </a:t>
            </a:r>
            <a:r>
              <a:rPr lang="en-US" altLang="ja-JP" sz="2000" dirty="0"/>
              <a:t>column </a:t>
            </a:r>
            <a:r>
              <a:rPr lang="ja-JP" altLang="en-US" sz="2000" dirty="0"/>
              <a:t>で表示する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表の中で</a:t>
            </a:r>
            <a:endParaRPr lang="en-US" altLang="ja-JP" sz="2000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ID : </a:t>
            </a:r>
            <a:r>
              <a:rPr lang="ja-JP" altLang="en-US" sz="1800" b="0" i="0" dirty="0">
                <a:effectLst/>
                <a:latin typeface="游ゴシック" panose="020B0400000000000000" pitchFamily="50" charset="-128"/>
              </a:rPr>
              <a:t>整数・自動採番</a:t>
            </a:r>
            <a:r>
              <a:rPr lang="ja-JP" altLang="en-US" sz="1800" b="0" i="0" dirty="0"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 </a:t>
            </a:r>
            <a:endParaRPr lang="en-US" altLang="ja-JP" sz="1800" b="0" i="0" dirty="0">
              <a:effectLst/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endParaRPr lang="en-US" altLang="ja-JP" sz="1800" b="0" i="0" dirty="0">
              <a:effectLst/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登録時刻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 : 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文字列・</a:t>
            </a:r>
            <a:r>
              <a:rPr lang="en-US" altLang="ja-JP" sz="1800" b="0" i="0" dirty="0" err="1">
                <a:effectLst/>
                <a:latin typeface="Calibri" panose="020F0502020204030204" pitchFamily="34" charset="0"/>
              </a:rPr>
              <a:t>ISO</a:t>
            </a:r>
            <a:r>
              <a:rPr lang="en-US" altLang="ja-JP" sz="1800" b="0" i="0" dirty="0">
                <a:effectLst/>
                <a:latin typeface="Calibri" panose="020F0502020204030204" pitchFamily="34" charset="0"/>
              </a:rPr>
              <a:t> 8601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形式（</a:t>
            </a:r>
            <a:r>
              <a:rPr lang="en-US" altLang="ja-JP" sz="1800" b="0" i="0" dirty="0">
                <a:solidFill>
                  <a:srgbClr val="215F9A"/>
                </a:solidFill>
                <a:effectLst/>
                <a:latin typeface="Consolas" panose="020B0609020204030204" pitchFamily="49" charset="0"/>
              </a:rPr>
              <a:t>2026-05-19T10:00:00+09:00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）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endParaRPr lang="en-US" altLang="ja-JP" sz="1800" b="0" i="0" dirty="0">
              <a:effectLst/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問い合わせ内容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 : 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文字列</a:t>
            </a:r>
            <a:endParaRPr lang="en-US" altLang="ja-JP" sz="1800" b="0" i="0" dirty="0">
              <a:effectLst/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endParaRPr lang="en-US" altLang="ja-JP" dirty="0"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カテゴリ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ー : 「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勤怠・休暇・給与・経費精算・社員情報変更・その他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 」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のいずれか</a:t>
            </a:r>
            <a:endParaRPr lang="en-US" altLang="ja-JP" sz="1800" b="0" i="0" dirty="0">
              <a:effectLst/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endParaRPr lang="en-US" altLang="ja-JP" sz="1800" b="0" i="0" dirty="0">
              <a:effectLst/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緊急度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 : 「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高・中・低」のいずれか</a:t>
            </a:r>
            <a:endParaRPr lang="en-US" altLang="ja-JP" sz="1800" b="0" i="0" dirty="0">
              <a:effectLst/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endParaRPr lang="en-US" altLang="ja-JP" sz="1800" b="0" i="0" dirty="0">
              <a:effectLst/>
              <a:latin typeface="游ゴシック" panose="020B0400000000000000" pitchFamily="50" charset="-128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「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詳細」ボタン</a:t>
            </a:r>
            <a:r>
              <a:rPr lang="en-US" altLang="ja-JP" sz="1800" b="0" i="0" dirty="0">
                <a:effectLst/>
                <a:latin typeface="游ゴシック" panose="020B0400000000000000" pitchFamily="50" charset="-128"/>
              </a:rPr>
              <a:t> : </a:t>
            </a:r>
            <a:r>
              <a:rPr lang="en-US" altLang="ja-JP" sz="1800" b="0" i="0" dirty="0" err="1">
                <a:effectLst/>
                <a:latin typeface="游ゴシック" panose="020B0400000000000000" pitchFamily="50" charset="-128"/>
              </a:rPr>
              <a:t>詳細画面へ遷移する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039350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F795E6-70BC-9127-58CB-3E019711D23F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F993FFC-D9C3-B866-9BF5-8340BB56B6E5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773E04C-196E-A5A0-F9D4-F6CE40E91583}"/>
              </a:ext>
            </a:extLst>
          </p:cNvPr>
          <p:cNvSpPr txBox="1"/>
          <p:nvPr/>
        </p:nvSpPr>
        <p:spPr>
          <a:xfrm>
            <a:off x="320675" y="1238373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1.2 </a:t>
            </a:r>
            <a:r>
              <a:rPr lang="ja-JP" altLang="en-US" sz="2400" b="1" dirty="0"/>
              <a:t>システム構成・技術</a:t>
            </a:r>
            <a:endParaRPr lang="en-US" altLang="ja-JP" sz="2400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4101FAE-7AFC-F0F8-9357-90C3E25FC7F7}"/>
              </a:ext>
            </a:extLst>
          </p:cNvPr>
          <p:cNvSpPr txBox="1"/>
          <p:nvPr/>
        </p:nvSpPr>
        <p:spPr>
          <a:xfrm>
            <a:off x="320675" y="1924652"/>
            <a:ext cx="1074837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ja-JP" altLang="en-US" sz="2000" dirty="0"/>
              <a:t>画面ごとの操作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詳細画面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一覧表示画面から 選択した </a:t>
            </a:r>
            <a:r>
              <a:rPr lang="en-US" altLang="ja-JP" sz="2000" dirty="0"/>
              <a:t>ID </a:t>
            </a:r>
            <a:r>
              <a:rPr lang="ja-JP" altLang="en-US" sz="2000" dirty="0"/>
              <a:t>の「詳細」ボタンを押し、</a:t>
            </a:r>
            <a:endParaRPr lang="en-US" altLang="ja-JP" sz="2000" dirty="0"/>
          </a:p>
          <a:p>
            <a:r>
              <a:rPr lang="ja-JP" altLang="en-US" sz="2000" dirty="0"/>
              <a:t>　問い合わせ詳細画面を表示する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問い合わせ内容を</a:t>
            </a:r>
            <a:endParaRPr lang="en-US" altLang="ja-JP" sz="2000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ja-JP" sz="2000" dirty="0"/>
              <a:t>ID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ja-JP" altLang="en-US" sz="2000" dirty="0"/>
              <a:t>登録時刻</a:t>
            </a:r>
            <a:endParaRPr lang="en-US" altLang="ja-JP" sz="2000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ja-JP" altLang="en-US" sz="2000" dirty="0"/>
              <a:t>カテゴリー</a:t>
            </a:r>
            <a:endParaRPr lang="en-US" altLang="ja-JP" sz="2000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ja-JP" altLang="en-US" sz="2000" dirty="0"/>
              <a:t>緊急度</a:t>
            </a:r>
            <a:endParaRPr lang="en-US" altLang="ja-JP" sz="2000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ja-JP" altLang="en-US" sz="2000" dirty="0"/>
              <a:t>問い合わせ内容</a:t>
            </a:r>
            <a:endParaRPr lang="en-US" altLang="ja-JP" sz="2000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ja-JP" altLang="en-US" sz="2000" dirty="0"/>
              <a:t>回答案　などを順番で閲覧できる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4249392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BE6065-CD51-83D4-18AF-47C478C0A733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DD14413-58A0-5378-1C1D-3709D5CE0549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A12C2F7-265A-F64E-57EE-55729D7E50DE}"/>
              </a:ext>
            </a:extLst>
          </p:cNvPr>
          <p:cNvSpPr txBox="1"/>
          <p:nvPr/>
        </p:nvSpPr>
        <p:spPr>
          <a:xfrm>
            <a:off x="320675" y="1238373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1.2 </a:t>
            </a:r>
            <a:r>
              <a:rPr lang="ja-JP" altLang="en-US" sz="2400" b="1" dirty="0"/>
              <a:t>システム構成・技術</a:t>
            </a:r>
            <a:endParaRPr lang="en-US" altLang="ja-JP" sz="24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3F92A8-8339-37C5-FB27-E92865B65C93}"/>
              </a:ext>
            </a:extLst>
          </p:cNvPr>
          <p:cNvSpPr txBox="1"/>
          <p:nvPr/>
        </p:nvSpPr>
        <p:spPr>
          <a:xfrm>
            <a:off x="320675" y="1924651"/>
            <a:ext cx="914056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2. </a:t>
            </a:r>
            <a:r>
              <a:rPr lang="ja-JP" altLang="en-US" sz="2000" dirty="0"/>
              <a:t>バックエンド・</a:t>
            </a:r>
            <a:r>
              <a:rPr lang="en-US" altLang="ja-JP" sz="2000" dirty="0"/>
              <a:t>AI </a:t>
            </a:r>
            <a:r>
              <a:rPr lang="ja-JP" altLang="en-US" sz="2000" dirty="0"/>
              <a:t>機能</a:t>
            </a:r>
            <a:endParaRPr lang="en-US" altLang="ja-JP" sz="2000" dirty="0"/>
          </a:p>
          <a:p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 err="1"/>
              <a:t>FastAPI</a:t>
            </a:r>
            <a:r>
              <a:rPr lang="en-US" altLang="ja-JP" sz="2000" dirty="0"/>
              <a:t> </a:t>
            </a:r>
            <a:r>
              <a:rPr lang="ja-JP" altLang="en-US" sz="2000" dirty="0"/>
              <a:t>を用いた </a:t>
            </a:r>
            <a:r>
              <a:rPr lang="en-US" altLang="ja-JP" sz="2000" dirty="0"/>
              <a:t>POST/GET </a:t>
            </a:r>
            <a:r>
              <a:rPr lang="ja-JP" altLang="en-US" sz="2000" dirty="0"/>
              <a:t>の実装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Gemini</a:t>
            </a:r>
            <a:r>
              <a:rPr lang="ja-JP" altLang="en-US" sz="2000" dirty="0"/>
              <a:t> </a:t>
            </a:r>
            <a:r>
              <a:rPr lang="en-US" altLang="ja-JP" sz="2000" dirty="0"/>
              <a:t>API </a:t>
            </a:r>
            <a:r>
              <a:rPr lang="ja-JP" altLang="en-US" sz="2000" dirty="0"/>
              <a:t>による問い合わせ内容の</a:t>
            </a:r>
            <a:r>
              <a:rPr lang="en-US" altLang="ja-JP" sz="2000" dirty="0"/>
              <a:t>AI</a:t>
            </a:r>
            <a:r>
              <a:rPr lang="ja-JP" altLang="en-US" sz="2000" dirty="0"/>
              <a:t>分析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問い合わせカテゴリー・緊急度の自動判定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AI </a:t>
            </a:r>
            <a:r>
              <a:rPr lang="ja-JP" altLang="en-US" sz="2000" dirty="0"/>
              <a:t>による回答案の自動生成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問い合わせ情報の保存・一覧取得・詳細取得機能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JSON </a:t>
            </a:r>
            <a:r>
              <a:rPr lang="ja-JP" altLang="en-US" sz="2000" dirty="0"/>
              <a:t>形式でのデータ処理およびバリデーション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ja-JP" altLang="en-US" sz="2000" dirty="0"/>
              <a:t>エラーハンドリングによる安全な </a:t>
            </a:r>
            <a:r>
              <a:rPr lang="en-US" altLang="ja-JP" sz="2000" dirty="0"/>
              <a:t>API </a:t>
            </a:r>
            <a:r>
              <a:rPr lang="ja-JP" altLang="en-US" sz="2000" dirty="0"/>
              <a:t>処理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1196364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BE6065-CD51-83D4-18AF-47C478C0A733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7DD14413-58A0-5378-1C1D-3709D5CE0549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A12C2F7-265A-F64E-57EE-55729D7E50DE}"/>
              </a:ext>
            </a:extLst>
          </p:cNvPr>
          <p:cNvSpPr txBox="1"/>
          <p:nvPr/>
        </p:nvSpPr>
        <p:spPr>
          <a:xfrm>
            <a:off x="320675" y="1238373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1.2 </a:t>
            </a:r>
            <a:r>
              <a:rPr lang="ja-JP" altLang="en-US" sz="2400" b="1" dirty="0"/>
              <a:t>システム構成・技術</a:t>
            </a:r>
            <a:endParaRPr lang="en-US" altLang="ja-JP" sz="2400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63F92A8-8339-37C5-FB27-E92865B65C93}"/>
              </a:ext>
            </a:extLst>
          </p:cNvPr>
          <p:cNvSpPr txBox="1"/>
          <p:nvPr/>
        </p:nvSpPr>
        <p:spPr>
          <a:xfrm>
            <a:off x="320674" y="1924652"/>
            <a:ext cx="1034732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3. JSON</a:t>
            </a:r>
            <a:r>
              <a:rPr lang="ja-JP" altLang="en-US" sz="2000" dirty="0"/>
              <a:t>形式データ保存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lang="ja-JP" altLang="en-US" sz="2000" dirty="0"/>
              <a:t>主に実装したメソッド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def _load()</a:t>
            </a:r>
            <a:r>
              <a:rPr lang="ja-JP" altLang="en-US" sz="2000" dirty="0"/>
              <a:t> </a:t>
            </a:r>
            <a:r>
              <a:rPr lang="en-US" altLang="ja-JP" sz="2000" dirty="0"/>
              <a:t>:</a:t>
            </a:r>
            <a:r>
              <a:rPr lang="ja-JP" altLang="en-US" sz="2000" dirty="0"/>
              <a:t> </a:t>
            </a:r>
            <a:r>
              <a:rPr lang="en-US" altLang="ja-JP" sz="2000" dirty="0"/>
              <a:t>JSON </a:t>
            </a:r>
            <a:r>
              <a:rPr lang="ja-JP" altLang="en-US" sz="2000" dirty="0"/>
              <a:t>ファイルからデータ読み込む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def _save() : JSON </a:t>
            </a:r>
            <a:r>
              <a:rPr lang="ja-JP" altLang="en-US" sz="2000" dirty="0"/>
              <a:t>ファイルへデータを書き込む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def </a:t>
            </a:r>
            <a:r>
              <a:rPr lang="en-US" altLang="ja-JP" sz="2000" dirty="0" err="1"/>
              <a:t>save_inquiry</a:t>
            </a:r>
            <a:r>
              <a:rPr lang="en-US" altLang="ja-JP" sz="2000" dirty="0"/>
              <a:t>() : </a:t>
            </a:r>
            <a:r>
              <a:rPr lang="ja-JP" altLang="en-US" sz="2000" dirty="0"/>
              <a:t>問い合わせ内容を保存し、保存したデータを返す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def </a:t>
            </a:r>
            <a:r>
              <a:rPr lang="en-US" altLang="ja-JP" sz="2000" dirty="0" err="1"/>
              <a:t>get_all_inquiries</a:t>
            </a:r>
            <a:r>
              <a:rPr lang="en-US" altLang="ja-JP" sz="2000" dirty="0"/>
              <a:t>() : </a:t>
            </a:r>
            <a:r>
              <a:rPr lang="ja-JP" altLang="en-US" sz="2000" dirty="0"/>
              <a:t>全問い合わせを新しいい順で返す（登録時刻の降順）</a:t>
            </a: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endParaRPr lang="en-US" altLang="ja-JP" sz="2000" dirty="0"/>
          </a:p>
          <a:p>
            <a:pPr marL="342900" indent="-342900">
              <a:buFont typeface="Wingdings" panose="05000000000000000000" pitchFamily="2" charset="2"/>
              <a:buChar char="l"/>
            </a:pPr>
            <a:r>
              <a:rPr lang="en-US" altLang="ja-JP" sz="2000" dirty="0"/>
              <a:t>def </a:t>
            </a:r>
            <a:r>
              <a:rPr lang="en-US" altLang="ja-JP" sz="2000" dirty="0" err="1"/>
              <a:t>get_inquiry_by_id</a:t>
            </a:r>
            <a:r>
              <a:rPr lang="en-US" altLang="ja-JP" sz="2000" dirty="0"/>
              <a:t>() : </a:t>
            </a:r>
            <a:r>
              <a:rPr lang="ja-JP" altLang="en-US" sz="2000" dirty="0"/>
              <a:t>選択した </a:t>
            </a:r>
            <a:r>
              <a:rPr lang="en-US" altLang="ja-JP" sz="2000" dirty="0"/>
              <a:t>ID </a:t>
            </a:r>
            <a:r>
              <a:rPr lang="ja-JP" altLang="en-US" sz="2000" dirty="0"/>
              <a:t>で問い合わせを取得する</a:t>
            </a:r>
            <a:endParaRPr lang="en-US" altLang="ja-JP" sz="2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6E495CB-C344-21DF-02C1-95AFCEA53719}"/>
              </a:ext>
            </a:extLst>
          </p:cNvPr>
          <p:cNvSpPr txBox="1"/>
          <p:nvPr/>
        </p:nvSpPr>
        <p:spPr>
          <a:xfrm>
            <a:off x="714261" y="6117946"/>
            <a:ext cx="10565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FF0000"/>
                </a:solidFill>
              </a:rPr>
              <a:t>過去の回答は保存され、参照可能となる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16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3F795E6-70BC-9127-58CB-3E019711D23F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F993FFC-D9C3-B866-9BF5-8340BB56B6E5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B9E45B-076C-556F-C3DF-DE513E137506}"/>
              </a:ext>
            </a:extLst>
          </p:cNvPr>
          <p:cNvSpPr txBox="1"/>
          <p:nvPr/>
        </p:nvSpPr>
        <p:spPr>
          <a:xfrm>
            <a:off x="320675" y="1238373"/>
            <a:ext cx="4363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1.3 </a:t>
            </a:r>
            <a:r>
              <a:rPr lang="ja-JP" altLang="en-US" sz="2400" b="1" dirty="0"/>
              <a:t>デモ・画面</a:t>
            </a:r>
            <a:endParaRPr lang="en-US" altLang="ja-JP" sz="2400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6ECBDDC-CBB0-9DC3-ABED-75D320C5B1F4}"/>
              </a:ext>
            </a:extLst>
          </p:cNvPr>
          <p:cNvSpPr txBox="1"/>
          <p:nvPr/>
        </p:nvSpPr>
        <p:spPr>
          <a:xfrm>
            <a:off x="813480" y="3198167"/>
            <a:ext cx="10565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rgbClr val="FF0000"/>
                </a:solidFill>
              </a:rPr>
              <a:t>実際に実行していきましょう</a:t>
            </a:r>
          </a:p>
        </p:txBody>
      </p:sp>
    </p:spTree>
    <p:extLst>
      <p:ext uri="{BB962C8B-B14F-4D97-AF65-F5344CB8AC3E}">
        <p14:creationId xmlns:p14="http://schemas.microsoft.com/office/powerpoint/2010/main" val="3301265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3E6BC0-24C6-206C-7366-0A29B11C2256}"/>
              </a:ext>
            </a:extLst>
          </p:cNvPr>
          <p:cNvSpPr txBox="1"/>
          <p:nvPr/>
        </p:nvSpPr>
        <p:spPr>
          <a:xfrm>
            <a:off x="320675" y="278389"/>
            <a:ext cx="98853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プロジェクト名：</a:t>
            </a:r>
            <a:r>
              <a:rPr kumimoji="1" lang="en-US" altLang="ja-JP" sz="3200" b="1" dirty="0"/>
              <a:t>AI Inquiry Application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939263E0-C819-760E-7BBD-2450DB7D9B26}"/>
              </a:ext>
            </a:extLst>
          </p:cNvPr>
          <p:cNvCxnSpPr/>
          <p:nvPr/>
        </p:nvCxnSpPr>
        <p:spPr>
          <a:xfrm>
            <a:off x="320675" y="1013759"/>
            <a:ext cx="113522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E9062E-C9C4-7364-6501-9179645FAAD3}"/>
              </a:ext>
            </a:extLst>
          </p:cNvPr>
          <p:cNvSpPr txBox="1"/>
          <p:nvPr/>
        </p:nvSpPr>
        <p:spPr>
          <a:xfrm>
            <a:off x="320675" y="1286499"/>
            <a:ext cx="4251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b="1" dirty="0"/>
              <a:t>1.1 </a:t>
            </a:r>
            <a:r>
              <a:rPr lang="ja-JP" altLang="en-US" sz="2400" b="1" dirty="0"/>
              <a:t>勉強になったこと</a:t>
            </a:r>
            <a:endParaRPr lang="en-US" altLang="ja-JP" sz="2400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F99B1C5-885C-0444-7F09-B30DDEEF0382}"/>
              </a:ext>
            </a:extLst>
          </p:cNvPr>
          <p:cNvSpPr txBox="1"/>
          <p:nvPr/>
        </p:nvSpPr>
        <p:spPr>
          <a:xfrm>
            <a:off x="320675" y="2024861"/>
            <a:ext cx="10668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システム開発にあるべき姿勢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実装時にかかる所有時間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上流工程の大切さ・流れ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お客さんの要求書の範囲で異なる設計書を行うこと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設計書の提案・説明を明確にすること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en-US" altLang="ja-JP" dirty="0"/>
              <a:t>AI</a:t>
            </a:r>
            <a:r>
              <a:rPr kumimoji="1" lang="ja-JP" altLang="en-US" dirty="0"/>
              <a:t>の扱い方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プロジェクトに対する企画性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システムの中では</a:t>
            </a:r>
            <a:r>
              <a:rPr lang="en-US" altLang="ja-JP" dirty="0"/>
              <a:t>Python</a:t>
            </a:r>
            <a:r>
              <a:rPr lang="ja-JP" altLang="en-US" dirty="0"/>
              <a:t>の関数・メソッド・処理順番・優先度順位・バグやエラー対応</a:t>
            </a:r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50010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676</Words>
  <Application>Microsoft Office PowerPoint</Application>
  <PresentationFormat>ワイド画面</PresentationFormat>
  <Paragraphs>126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6" baseType="lpstr">
      <vt:lpstr>游ゴシック</vt:lpstr>
      <vt:lpstr>游ゴシック Light</vt:lpstr>
      <vt:lpstr>Arial</vt:lpstr>
      <vt:lpstr>Calibri</vt:lpstr>
      <vt:lpstr>Consolas</vt:lpstr>
      <vt:lpstr>Wingdings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Owner</dc:creator>
  <cp:lastModifiedBy>Owner</cp:lastModifiedBy>
  <cp:revision>3</cp:revision>
  <dcterms:created xsi:type="dcterms:W3CDTF">2026-05-20T01:19:37Z</dcterms:created>
  <dcterms:modified xsi:type="dcterms:W3CDTF">2026-05-20T03:20:05Z</dcterms:modified>
</cp:coreProperties>
</file>