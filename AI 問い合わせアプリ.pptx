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66" r:id="rId5"/>
    <p:sldId id="267" r:id="rId6"/>
    <p:sldId id="263" r:id="rId7"/>
    <p:sldId id="264" r:id="rId8"/>
    <p:sldId id="265" r:id="rId9"/>
    <p:sldId id="262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33680F-5582-3224-9666-CFB86C776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83D58BB-8E1C-57EE-0CB2-20952DF48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A514AB-D4B4-7B43-3CF1-72F1FE8EF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E6282-4B64-4E87-8A94-CB9CE9CC94F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EE548B-5981-B517-BE8E-EAA7F10B9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507301-E869-88CD-781C-BFD9D2F4F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5641-78CE-49DB-898A-FE4999544C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0367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A307D1-9553-C07A-EC0B-67D48028D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36E8D4-2612-6D5D-CA59-998A18199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146876-76B9-9324-0B8A-EE558B90B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E6282-4B64-4E87-8A94-CB9CE9CC94F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FF1D14-C826-EDB0-177E-E609C830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C3759F-BB24-80D5-F8DF-23B71D8DA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5641-78CE-49DB-898A-FE4999544C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1820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47FA21-CEF6-B435-511C-A7C295E92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9E413E-8360-FC74-6D35-214BD7D1E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9E0CD-EC72-8EF7-D56C-9FFC74DB6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E6282-4B64-4E87-8A94-CB9CE9CC94F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46E4FC-1EE3-C316-7CFF-46221BCB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62E182-C18B-8C97-B926-5056C430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5641-78CE-49DB-898A-FE4999544C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1006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34990D-8D0A-6067-D3AB-00B68EE8C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1E38FB-F600-DD62-4BB3-0879E346B6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F14FD99-EB5F-C7A2-2B30-CD9D11594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2603CC6-E50C-1800-6FD3-8D4B3A353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E6282-4B64-4E87-8A94-CB9CE9CC94F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C85BD01-B680-91D1-004A-4E2C078E6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538CDE0-0E87-837B-66BF-3B618550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5641-78CE-49DB-898A-FE4999544C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7735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43D99E-6475-4F70-7F6C-1670D208D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A73464-E350-BEF7-BB0A-456D18A06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653F9CE-C2DB-3B09-B8A2-718EBDDD1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8F43A2-568C-D51D-A09A-11BC2D73F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E945082-E806-639B-D20E-C610E29EDD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216E87D-1435-0AB1-59B1-4B1C3106B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E6282-4B64-4E87-8A94-CB9CE9CC94F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1A90233-8CE3-AD0C-CEF8-29D2A9B9F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763DB91-3F7A-0939-6C9E-B166FAACB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5641-78CE-49DB-898A-FE4999544C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9643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6BBC1A-4B56-45CC-6252-5F52BF28D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DDFECF1-9516-D540-667E-E9E916EC8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E6282-4B64-4E87-8A94-CB9CE9CC94F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B0B9760-4980-BEEB-F758-F3B4CFCC6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15EC6A7-8728-89E5-735A-30DDC811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5641-78CE-49DB-898A-FE4999544C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0988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5ED5518-9E53-94D8-79E9-015B74A04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E6282-4B64-4E87-8A94-CB9CE9CC94F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2B5506D-88A0-CC90-66CE-4D37964CB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F931894-974F-5A03-3B71-1EC3AB0BF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5641-78CE-49DB-898A-FE4999544C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9055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B5DC8D-2219-01E2-AB04-F4A04C1D1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E28BC6-48B5-C420-B8BC-BD0B9015D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8C24AC4-CDD8-42DB-67E1-B20991DEB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650B12-740D-F954-2BA5-22A8EDC66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E6282-4B64-4E87-8A94-CB9CE9CC94F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DE8289-5570-CD7A-D6B0-FE176137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8E4F4F-A9EA-D281-83E1-B4CA75FE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5641-78CE-49DB-898A-FE4999544C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270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C3349A-424B-89F2-43F0-CD4F348FA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D0C6F7B-7678-35A1-F78F-EE691EB903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D6B54E3-2CA4-BC20-5A52-C9DB951C0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455A81-BAD9-A4AE-9E0B-1B5A40978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E6282-4B64-4E87-8A94-CB9CE9CC94F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FB99A71-DBD3-4D49-D20E-BCC949406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CF5EC0-F2F8-7A9A-8FFD-D7DB10861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5641-78CE-49DB-898A-FE4999544C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0744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446842-A66A-4B3A-E1D0-16A430A43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3354528-9226-5C34-114F-F5A616291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5DB47D-D59F-8C4C-5E59-87CFF587D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E6282-4B64-4E87-8A94-CB9CE9CC94F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D71425-38C4-A987-6B9F-ED479ACA4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CF9FF3-F498-46E5-F036-B37850E29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5641-78CE-49DB-898A-FE4999544C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1624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B1E6DDB-3F14-0FF7-01DB-B48A936418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2D8D77A-EC9E-582F-5EE7-2F9406DB2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B4CD87-F194-7260-304F-F7280197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E6282-4B64-4E87-8A94-CB9CE9CC94F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EA295D-8FB7-7EA6-5D10-4C714549B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2A6816-3500-8B3B-B28F-A8EA45BC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C5641-78CE-49DB-898A-FE4999544C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774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695FF16-680E-086D-CF20-E1FF885C7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AA07AF-A357-C0A0-9DB1-D6A58BF97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A69AFF-EE3F-E21C-2D7C-84A8ADE5C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0E6282-4B64-4E87-8A94-CB9CE9CC94F1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9E28BE-90C3-4D8D-3C60-8599BD92EB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E162A0-3ADB-F7AB-E0EE-5F7E40213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C5641-78CE-49DB-898A-FE4999544C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3334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BBA9658-BAAF-2EE2-9E7A-B38A9E775798}"/>
              </a:ext>
            </a:extLst>
          </p:cNvPr>
          <p:cNvSpPr txBox="1"/>
          <p:nvPr/>
        </p:nvSpPr>
        <p:spPr>
          <a:xfrm>
            <a:off x="320675" y="278389"/>
            <a:ext cx="9885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プロジェクト名：</a:t>
            </a:r>
            <a:r>
              <a:rPr kumimoji="1" lang="en-US" altLang="ja-JP" sz="3200" b="1" dirty="0"/>
              <a:t>AI Inquiry Application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86C1DD3-EE5C-A334-70EA-2E390DE9BB02}"/>
              </a:ext>
            </a:extLst>
          </p:cNvPr>
          <p:cNvSpPr txBox="1"/>
          <p:nvPr/>
        </p:nvSpPr>
        <p:spPr>
          <a:xfrm>
            <a:off x="320675" y="1238373"/>
            <a:ext cx="2551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1.1 </a:t>
            </a:r>
            <a:r>
              <a:rPr lang="ja-JP" altLang="en-US" sz="2400" b="1" dirty="0"/>
              <a:t>システム概要</a:t>
            </a:r>
            <a:endParaRPr lang="en-US" altLang="ja-JP" sz="2400" b="1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459B618-311E-B6B3-2836-42E7070F0AC3}"/>
              </a:ext>
            </a:extLst>
          </p:cNvPr>
          <p:cNvCxnSpPr/>
          <p:nvPr/>
        </p:nvCxnSpPr>
        <p:spPr>
          <a:xfrm>
            <a:off x="320675" y="1013759"/>
            <a:ext cx="113522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E0BF671-2FBC-6ABB-4905-62B0B9FECB9C}"/>
              </a:ext>
            </a:extLst>
          </p:cNvPr>
          <p:cNvSpPr txBox="1"/>
          <p:nvPr/>
        </p:nvSpPr>
        <p:spPr>
          <a:xfrm>
            <a:off x="320674" y="1924651"/>
            <a:ext cx="1150235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従来、業務内の問い合わせは口頭で行われており、</a:t>
            </a:r>
            <a:br>
              <a:rPr lang="ja-JP" altLang="en-US" sz="2000" dirty="0"/>
            </a:br>
            <a:r>
              <a:rPr lang="ja-JP" altLang="en-US" sz="2000" dirty="0"/>
              <a:t>内容が記録されないため、過去の回答参照や情報管理が困難であった。</a:t>
            </a:r>
            <a:endParaRPr lang="en-US" altLang="ja-JP" sz="2000" dirty="0"/>
          </a:p>
          <a:p>
            <a:endParaRPr kumimoji="1" lang="en-US" altLang="ja-JP" sz="2000" dirty="0"/>
          </a:p>
          <a:p>
            <a:r>
              <a:rPr lang="ja-JP" altLang="en-US" sz="2000" dirty="0"/>
              <a:t>本システムでは、問い合わせ内容を一元管理し、</a:t>
            </a:r>
            <a:endParaRPr lang="en-US" altLang="ja-JP" sz="2000" dirty="0"/>
          </a:p>
          <a:p>
            <a:r>
              <a:rPr lang="en-US" altLang="ja-JP" sz="2000" dirty="0"/>
              <a:t>Gemini AI </a:t>
            </a:r>
            <a:r>
              <a:rPr lang="ja-JP" altLang="en-US" sz="2000" dirty="0"/>
              <a:t>により以下を自動で判定・生成する。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カテゴリー分類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緊急度判定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回答案生成</a:t>
            </a:r>
            <a:endParaRPr lang="en-US" altLang="ja-JP" sz="20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83FA2D2-B02A-C820-43A8-70E9D8976AE1}"/>
              </a:ext>
            </a:extLst>
          </p:cNvPr>
          <p:cNvSpPr txBox="1"/>
          <p:nvPr/>
        </p:nvSpPr>
        <p:spPr>
          <a:xfrm>
            <a:off x="714261" y="5428742"/>
            <a:ext cx="10565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FF0000"/>
                </a:solidFill>
              </a:rPr>
              <a:t>我々が過去の対応履歴を参照可能とすることで迅速かつ効率的な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pPr algn="ctr"/>
            <a:r>
              <a:rPr lang="ja-JP" altLang="en-US" sz="2400" b="1" dirty="0">
                <a:solidFill>
                  <a:srgbClr val="FF0000"/>
                </a:solidFill>
              </a:rPr>
              <a:t>問い合わせ対応を実現する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328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1BE6065-CD51-83D4-18AF-47C478C0A733}"/>
              </a:ext>
            </a:extLst>
          </p:cNvPr>
          <p:cNvSpPr txBox="1"/>
          <p:nvPr/>
        </p:nvSpPr>
        <p:spPr>
          <a:xfrm>
            <a:off x="320675" y="278389"/>
            <a:ext cx="9885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プロジェクト名：</a:t>
            </a:r>
            <a:r>
              <a:rPr kumimoji="1" lang="en-US" altLang="ja-JP" sz="3200" b="1" dirty="0"/>
              <a:t>AI Inquiry Application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DD14413-58A0-5378-1C1D-3709D5CE0549}"/>
              </a:ext>
            </a:extLst>
          </p:cNvPr>
          <p:cNvCxnSpPr/>
          <p:nvPr/>
        </p:nvCxnSpPr>
        <p:spPr>
          <a:xfrm>
            <a:off x="320675" y="1013759"/>
            <a:ext cx="113522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A12C2F7-265A-F64E-57EE-55729D7E50DE}"/>
              </a:ext>
            </a:extLst>
          </p:cNvPr>
          <p:cNvSpPr txBox="1"/>
          <p:nvPr/>
        </p:nvSpPr>
        <p:spPr>
          <a:xfrm>
            <a:off x="320675" y="1238373"/>
            <a:ext cx="436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1.2 </a:t>
            </a:r>
            <a:r>
              <a:rPr lang="ja-JP" altLang="en-US" sz="2400" b="1" dirty="0"/>
              <a:t>システム構成・技術</a:t>
            </a:r>
            <a:endParaRPr lang="en-US" altLang="ja-JP" sz="2400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63F92A8-8339-37C5-FB27-E92865B65C93}"/>
              </a:ext>
            </a:extLst>
          </p:cNvPr>
          <p:cNvSpPr txBox="1"/>
          <p:nvPr/>
        </p:nvSpPr>
        <p:spPr>
          <a:xfrm>
            <a:off x="320675" y="1870630"/>
            <a:ext cx="1135221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ja-JP" altLang="en-US" sz="2000" dirty="0"/>
              <a:t>フロントエンド</a:t>
            </a:r>
            <a:endParaRPr lang="en-US" altLang="ja-JP" sz="2000" dirty="0"/>
          </a:p>
          <a:p>
            <a:pPr marL="457200" indent="-457200">
              <a:buAutoNum type="arabicPeriod"/>
            </a:pPr>
            <a:endParaRPr lang="en-US" altLang="ja-JP" sz="2000" dirty="0"/>
          </a:p>
          <a:p>
            <a:r>
              <a:rPr lang="ja-JP" altLang="en-US" sz="2000" dirty="0"/>
              <a:t>本システムは、以下の画面で構成される。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sz="2000" dirty="0"/>
              <a:t>サイドバー（画面遷移メニュー）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ja-JP" sz="2000" dirty="0"/>
              <a:t> </a:t>
            </a:r>
            <a:r>
              <a:rPr lang="ja-JP" altLang="en-US" sz="2000" dirty="0"/>
              <a:t>問い合わせ入力画面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sz="2000" dirty="0"/>
              <a:t>一覧表示画面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sz="2000" dirty="0"/>
              <a:t>詳細画面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ja-JP" sz="2000" dirty="0"/>
          </a:p>
          <a:p>
            <a:r>
              <a:rPr lang="ja-JP" altLang="en-US" sz="2000" dirty="0"/>
              <a:t>画面遷移</a:t>
            </a:r>
            <a:endParaRPr lang="en-US" altLang="ja-JP" sz="2000" dirty="0"/>
          </a:p>
          <a:p>
            <a:endParaRPr lang="en-US" altLang="ja-JP" sz="2000" dirty="0"/>
          </a:p>
          <a:p>
            <a:r>
              <a:rPr lang="ja-JP" altLang="en-US" sz="2000" dirty="0"/>
              <a:t>初期表示は「問い合わせ入力画面」とし、</a:t>
            </a:r>
            <a:endParaRPr lang="en-US" altLang="ja-JP" sz="2000" dirty="0"/>
          </a:p>
          <a:p>
            <a:r>
              <a:rPr lang="ja-JP" altLang="en-US" sz="2000" dirty="0"/>
              <a:t>サイドバー操作により各画面へ遷移する。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sz="2000" dirty="0"/>
              <a:t>入力画面 → 一覧画面 → 詳細画面へ遷移可能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sz="2000" dirty="0"/>
              <a:t>詳細画面から一覧画面へ戻ることができる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sz="2000" dirty="0"/>
              <a:t>すべての画面から入力画面へ遷移可能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561741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1BE6065-CD51-83D4-18AF-47C478C0A733}"/>
              </a:ext>
            </a:extLst>
          </p:cNvPr>
          <p:cNvSpPr txBox="1"/>
          <p:nvPr/>
        </p:nvSpPr>
        <p:spPr>
          <a:xfrm>
            <a:off x="320675" y="278389"/>
            <a:ext cx="9885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プロジェクト名：</a:t>
            </a:r>
            <a:r>
              <a:rPr kumimoji="1" lang="en-US" altLang="ja-JP" sz="3200" b="1" dirty="0"/>
              <a:t>AI Inquiry Application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DD14413-58A0-5378-1C1D-3709D5CE0549}"/>
              </a:ext>
            </a:extLst>
          </p:cNvPr>
          <p:cNvCxnSpPr/>
          <p:nvPr/>
        </p:nvCxnSpPr>
        <p:spPr>
          <a:xfrm>
            <a:off x="320675" y="1013759"/>
            <a:ext cx="113522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A12C2F7-265A-F64E-57EE-55729D7E50DE}"/>
              </a:ext>
            </a:extLst>
          </p:cNvPr>
          <p:cNvSpPr txBox="1"/>
          <p:nvPr/>
        </p:nvSpPr>
        <p:spPr>
          <a:xfrm>
            <a:off x="320675" y="1238373"/>
            <a:ext cx="436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1.2 </a:t>
            </a:r>
            <a:r>
              <a:rPr lang="ja-JP" altLang="en-US" sz="2400" b="1" dirty="0"/>
              <a:t>システム構成・技術</a:t>
            </a:r>
            <a:endParaRPr lang="en-US" altLang="ja-JP" sz="2400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63F92A8-8339-37C5-FB27-E92865B65C93}"/>
              </a:ext>
            </a:extLst>
          </p:cNvPr>
          <p:cNvSpPr txBox="1"/>
          <p:nvPr/>
        </p:nvSpPr>
        <p:spPr>
          <a:xfrm>
            <a:off x="320674" y="1924651"/>
            <a:ext cx="1187132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2.    </a:t>
            </a:r>
            <a:r>
              <a:rPr lang="ja-JP" altLang="en-US" sz="2000" dirty="0"/>
              <a:t>画面ごとの操作</a:t>
            </a:r>
            <a:endParaRPr lang="en-US" altLang="ja-JP" sz="2000" dirty="0"/>
          </a:p>
          <a:p>
            <a:endParaRPr lang="en-US" altLang="ja-JP" sz="2000" dirty="0"/>
          </a:p>
          <a:p>
            <a:r>
              <a:rPr lang="ja-JP" altLang="en-US" sz="2000" dirty="0"/>
              <a:t>サイドバー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ja-JP" sz="2000" dirty="0"/>
              <a:t> </a:t>
            </a:r>
            <a:r>
              <a:rPr lang="ja-JP" altLang="en-US" sz="2000" dirty="0"/>
              <a:t>問い合わせ入力画面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sz="2000" dirty="0"/>
              <a:t>一覧表示画面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ja-JP" sz="2000" dirty="0"/>
          </a:p>
          <a:p>
            <a:r>
              <a:rPr lang="ja-JP" altLang="en-US" sz="2000" dirty="0"/>
              <a:t>問い合わせ入力画面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sz="2000" dirty="0"/>
              <a:t>ユーザー（社員）が問い合わせ内容をテキストエリアに入力する。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sz="2000" dirty="0"/>
              <a:t>入力された内容は</a:t>
            </a:r>
            <a:r>
              <a:rPr lang="en-US" altLang="ja-JP" sz="2000" dirty="0"/>
              <a:t>Gemini AI</a:t>
            </a:r>
            <a:r>
              <a:rPr lang="ja-JP" altLang="en-US" sz="2000" dirty="0"/>
              <a:t>に送信され、カテゴリー（</a:t>
            </a:r>
            <a:r>
              <a:rPr lang="en-US" altLang="ja-JP" sz="2000" dirty="0"/>
              <a:t>6</a:t>
            </a:r>
            <a:r>
              <a:rPr lang="ja-JP" altLang="en-US" sz="2000" dirty="0"/>
              <a:t>段階）、緊急度（</a:t>
            </a:r>
            <a:r>
              <a:rPr lang="en-US" altLang="ja-JP" sz="2000" dirty="0"/>
              <a:t>3</a:t>
            </a:r>
            <a:r>
              <a:rPr lang="ja-JP" altLang="en-US" sz="2000" dirty="0"/>
              <a:t>段階）、回答案を分析し、自動生成する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sz="2000" dirty="0"/>
              <a:t>生成結果はローカル環境の</a:t>
            </a:r>
            <a:r>
              <a:rPr lang="en-US" altLang="ja-JP" sz="2000" dirty="0"/>
              <a:t>data/</a:t>
            </a:r>
            <a:r>
              <a:rPr lang="en-US" altLang="ja-JP" sz="2000" dirty="0" err="1"/>
              <a:t>inquiries.json</a:t>
            </a:r>
            <a:r>
              <a:rPr lang="en-US" altLang="ja-JP" sz="2000" dirty="0"/>
              <a:t> </a:t>
            </a:r>
            <a:r>
              <a:rPr lang="ja-JP" altLang="en-US" sz="2000" dirty="0"/>
              <a:t>に保存され、一元管理される。</a:t>
            </a:r>
            <a:endParaRPr lang="en-US" altLang="ja-JP" sz="20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A835375-E8F5-AABF-0154-618279D89C6A}"/>
              </a:ext>
            </a:extLst>
          </p:cNvPr>
          <p:cNvSpPr txBox="1"/>
          <p:nvPr/>
        </p:nvSpPr>
        <p:spPr>
          <a:xfrm>
            <a:off x="714261" y="6117946"/>
            <a:ext cx="1056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dirty="0">
                <a:solidFill>
                  <a:srgbClr val="FF0000"/>
                </a:solidFill>
              </a:rPr>
              <a:t>*</a:t>
            </a:r>
            <a:r>
              <a:rPr lang="ja-JP" altLang="en-US" sz="2400" b="1" dirty="0">
                <a:solidFill>
                  <a:srgbClr val="FF0000"/>
                </a:solidFill>
              </a:rPr>
              <a:t>過去の回答は永続的に保存され、参照可能となる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146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3F795E6-70BC-9127-58CB-3E019711D23F}"/>
              </a:ext>
            </a:extLst>
          </p:cNvPr>
          <p:cNvSpPr txBox="1"/>
          <p:nvPr/>
        </p:nvSpPr>
        <p:spPr>
          <a:xfrm>
            <a:off x="320675" y="182137"/>
            <a:ext cx="9885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プロジェクト名：</a:t>
            </a:r>
            <a:r>
              <a:rPr kumimoji="1" lang="en-US" altLang="ja-JP" sz="3200" b="1" dirty="0"/>
              <a:t>AI Inquiry Application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F993FFC-D9C3-B866-9BF5-8340BB56B6E5}"/>
              </a:ext>
            </a:extLst>
          </p:cNvPr>
          <p:cNvCxnSpPr/>
          <p:nvPr/>
        </p:nvCxnSpPr>
        <p:spPr>
          <a:xfrm>
            <a:off x="371601" y="856458"/>
            <a:ext cx="113522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773E04C-196E-A5A0-F9D4-F6CE40E91583}"/>
              </a:ext>
            </a:extLst>
          </p:cNvPr>
          <p:cNvSpPr txBox="1"/>
          <p:nvPr/>
        </p:nvSpPr>
        <p:spPr>
          <a:xfrm>
            <a:off x="320675" y="970886"/>
            <a:ext cx="436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1.2 </a:t>
            </a:r>
            <a:r>
              <a:rPr lang="ja-JP" altLang="en-US" sz="2400" b="1" dirty="0"/>
              <a:t>システム構成・技術</a:t>
            </a:r>
            <a:endParaRPr lang="en-US" altLang="ja-JP" sz="24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4101FAE-7AFC-F0F8-9357-90C3E25FC7F7}"/>
              </a:ext>
            </a:extLst>
          </p:cNvPr>
          <p:cNvSpPr txBox="1"/>
          <p:nvPr/>
        </p:nvSpPr>
        <p:spPr>
          <a:xfrm>
            <a:off x="320675" y="1561877"/>
            <a:ext cx="11839074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2.    </a:t>
            </a:r>
            <a:r>
              <a:rPr lang="ja-JP" altLang="en-US" sz="2000" dirty="0"/>
              <a:t>画面ごとの操作</a:t>
            </a:r>
            <a:endParaRPr lang="en-US" altLang="ja-JP" sz="2000" dirty="0"/>
          </a:p>
          <a:p>
            <a:endParaRPr lang="en-US" altLang="ja-JP" sz="2000" dirty="0"/>
          </a:p>
          <a:p>
            <a:r>
              <a:rPr lang="ja-JP" altLang="en-US" sz="2000" dirty="0"/>
              <a:t>一覧表示画面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sz="2000" dirty="0"/>
              <a:t>サイドバーの「一覧表示」から遷移することで表示される。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sz="2000" dirty="0"/>
              <a:t>問い合わせ一覧をテーブル形式（</a:t>
            </a:r>
            <a:r>
              <a:rPr lang="en-US" altLang="ja-JP" sz="2000" dirty="0"/>
              <a:t>column</a:t>
            </a:r>
            <a:r>
              <a:rPr lang="ja-JP" altLang="en-US" sz="2000" dirty="0"/>
              <a:t>・カラム表示）で表示する。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sz="2000" dirty="0"/>
              <a:t>表示項目</a:t>
            </a:r>
            <a:endParaRPr lang="en-US" altLang="ja-JP" sz="20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1800" b="0" i="0" dirty="0">
                <a:effectLst/>
                <a:latin typeface="游ゴシック" panose="020B0400000000000000" pitchFamily="50" charset="-128"/>
              </a:rPr>
              <a:t>ID : </a:t>
            </a:r>
            <a:r>
              <a:rPr lang="ja-JP" altLang="en-US" sz="1800" b="0" i="0" dirty="0">
                <a:effectLst/>
                <a:latin typeface="游ゴシック" panose="020B0400000000000000" pitchFamily="50" charset="-128"/>
              </a:rPr>
              <a:t>整数（自動採番）</a:t>
            </a:r>
            <a:r>
              <a:rPr lang="ja-JP" altLang="en-US" sz="1800" b="0" i="0" dirty="0">
                <a:effectLst/>
                <a:latin typeface="游ゴシック" panose="020B0400000000000000" pitchFamily="50" charset="-128"/>
                <a:ea typeface="游ゴシック" panose="020B0400000000000000" pitchFamily="50" charset="-128"/>
              </a:rPr>
              <a:t> </a:t>
            </a:r>
            <a:endParaRPr lang="en-US" altLang="ja-JP" sz="1800" b="0" i="0" dirty="0">
              <a:effectLst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ja-JP" sz="1800" b="0" i="0" dirty="0">
              <a:effectLst/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1800" b="0" i="0" dirty="0" err="1">
                <a:effectLst/>
                <a:latin typeface="游ゴシック" panose="020B0400000000000000" pitchFamily="50" charset="-128"/>
              </a:rPr>
              <a:t>登録時刻</a:t>
            </a:r>
            <a:r>
              <a:rPr lang="en-US" altLang="ja-JP" sz="1800" b="0" i="0" dirty="0">
                <a:effectLst/>
                <a:latin typeface="游ゴシック" panose="020B0400000000000000" pitchFamily="50" charset="-128"/>
              </a:rPr>
              <a:t> : </a:t>
            </a:r>
            <a:r>
              <a:rPr lang="en-US" altLang="ja-JP" sz="1800" b="0" i="0" dirty="0" err="1">
                <a:effectLst/>
                <a:latin typeface="游ゴシック" panose="020B0400000000000000" pitchFamily="50" charset="-128"/>
              </a:rPr>
              <a:t>文字列・</a:t>
            </a:r>
            <a:r>
              <a:rPr lang="en-US" altLang="ja-JP" sz="1800" b="0" i="0" dirty="0" err="1">
                <a:effectLst/>
                <a:latin typeface="Calibri" panose="020F0502020204030204" pitchFamily="34" charset="0"/>
              </a:rPr>
              <a:t>ISO</a:t>
            </a:r>
            <a:r>
              <a:rPr lang="en-US" altLang="ja-JP" sz="1800" b="0" i="0" dirty="0">
                <a:effectLst/>
                <a:latin typeface="Calibri" panose="020F0502020204030204" pitchFamily="34" charset="0"/>
              </a:rPr>
              <a:t> 8601</a:t>
            </a:r>
            <a:r>
              <a:rPr lang="en-US" altLang="ja-JP" sz="1800" b="0" i="0" dirty="0">
                <a:effectLst/>
                <a:latin typeface="游ゴシック" panose="020B0400000000000000" pitchFamily="50" charset="-128"/>
              </a:rPr>
              <a:t>形式（</a:t>
            </a:r>
            <a:r>
              <a:rPr lang="ja-JP" altLang="en-US" sz="1800" b="0" i="0" dirty="0">
                <a:effectLst/>
                <a:latin typeface="游ゴシック" panose="020B0400000000000000" pitchFamily="50" charset="-128"/>
              </a:rPr>
              <a:t>例：</a:t>
            </a:r>
            <a:r>
              <a:rPr lang="en-US" altLang="ja-JP" sz="1800" b="0" i="0" dirty="0">
                <a:solidFill>
                  <a:srgbClr val="215F9A"/>
                </a:solidFill>
                <a:effectLst/>
                <a:latin typeface="Consolas" panose="020B0609020204030204" pitchFamily="49" charset="0"/>
              </a:rPr>
              <a:t>2026-05-19T10:00:00+09:00</a:t>
            </a:r>
            <a:r>
              <a:rPr lang="en-US" altLang="ja-JP" sz="1800" b="0" i="0" dirty="0">
                <a:effectLst/>
                <a:latin typeface="游ゴシック" panose="020B0400000000000000" pitchFamily="50" charset="-128"/>
              </a:rPr>
              <a:t>）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ja-JP" sz="1800" b="0" i="0" dirty="0">
              <a:effectLst/>
              <a:latin typeface="游ゴシック" panose="020B0400000000000000" pitchFamily="50" charset="-128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1800" b="0" i="0" dirty="0" err="1">
                <a:effectLst/>
                <a:latin typeface="游ゴシック" panose="020B0400000000000000" pitchFamily="50" charset="-128"/>
              </a:rPr>
              <a:t>問い合わせ内容</a:t>
            </a:r>
            <a:r>
              <a:rPr lang="en-US" altLang="ja-JP" sz="1800" b="0" i="0" dirty="0">
                <a:effectLst/>
                <a:latin typeface="游ゴシック" panose="020B0400000000000000" pitchFamily="50" charset="-128"/>
              </a:rPr>
              <a:t> : </a:t>
            </a:r>
            <a:r>
              <a:rPr lang="en-US" altLang="ja-JP" sz="1800" b="0" i="0" dirty="0" err="1">
                <a:effectLst/>
                <a:latin typeface="游ゴシック" panose="020B0400000000000000" pitchFamily="50" charset="-128"/>
              </a:rPr>
              <a:t>文字列</a:t>
            </a:r>
            <a:endParaRPr lang="en-US" altLang="ja-JP" sz="1800" b="0" i="0" dirty="0">
              <a:effectLst/>
              <a:latin typeface="游ゴシック" panose="020B0400000000000000" pitchFamily="50" charset="-128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ja-JP" dirty="0">
              <a:latin typeface="游ゴシック" panose="020B0400000000000000" pitchFamily="50" charset="-128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1800" b="0" i="0" dirty="0" err="1">
                <a:effectLst/>
                <a:latin typeface="游ゴシック" panose="020B0400000000000000" pitchFamily="50" charset="-128"/>
              </a:rPr>
              <a:t>カテゴリ</a:t>
            </a:r>
            <a:r>
              <a:rPr lang="en-US" altLang="ja-JP" sz="1800" b="0" i="0" dirty="0">
                <a:effectLst/>
                <a:latin typeface="游ゴシック" panose="020B0400000000000000" pitchFamily="50" charset="-128"/>
              </a:rPr>
              <a:t>ー : 「</a:t>
            </a:r>
            <a:r>
              <a:rPr lang="en-US" altLang="ja-JP" sz="1800" b="0" i="0" dirty="0" err="1">
                <a:effectLst/>
                <a:latin typeface="游ゴシック" panose="020B0400000000000000" pitchFamily="50" charset="-128"/>
              </a:rPr>
              <a:t>勤怠・休暇・給与・経費精算・社員情報変更・その他</a:t>
            </a:r>
            <a:r>
              <a:rPr lang="en-US" altLang="ja-JP" sz="1800" b="0" i="0" dirty="0">
                <a:effectLst/>
                <a:latin typeface="游ゴシック" panose="020B0400000000000000" pitchFamily="50" charset="-128"/>
              </a:rPr>
              <a:t> 」</a:t>
            </a:r>
            <a:r>
              <a:rPr lang="en-US" altLang="ja-JP" sz="1800" b="0" i="0" dirty="0" err="1">
                <a:effectLst/>
                <a:latin typeface="游ゴシック" panose="020B0400000000000000" pitchFamily="50" charset="-128"/>
              </a:rPr>
              <a:t>のいずれか</a:t>
            </a:r>
            <a:endParaRPr lang="en-US" altLang="ja-JP" sz="1800" b="0" i="0" dirty="0">
              <a:effectLst/>
              <a:latin typeface="游ゴシック" panose="020B0400000000000000" pitchFamily="50" charset="-128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ja-JP" sz="1800" b="0" i="0" dirty="0">
              <a:effectLst/>
              <a:latin typeface="游ゴシック" panose="020B0400000000000000" pitchFamily="50" charset="-128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1800" b="0" i="0" dirty="0" err="1">
                <a:effectLst/>
                <a:latin typeface="游ゴシック" panose="020B0400000000000000" pitchFamily="50" charset="-128"/>
              </a:rPr>
              <a:t>緊急度</a:t>
            </a:r>
            <a:r>
              <a:rPr lang="en-US" altLang="ja-JP" sz="1800" b="0" i="0" dirty="0">
                <a:effectLst/>
                <a:latin typeface="游ゴシック" panose="020B0400000000000000" pitchFamily="50" charset="-128"/>
              </a:rPr>
              <a:t> : 「</a:t>
            </a:r>
            <a:r>
              <a:rPr lang="en-US" altLang="ja-JP" sz="1800" b="0" i="0" dirty="0" err="1">
                <a:effectLst/>
                <a:latin typeface="游ゴシック" panose="020B0400000000000000" pitchFamily="50" charset="-128"/>
              </a:rPr>
              <a:t>高・中・低」のいずれか</a:t>
            </a:r>
            <a:endParaRPr lang="en-US" altLang="ja-JP" sz="1800" b="0" i="0" dirty="0">
              <a:effectLst/>
              <a:latin typeface="游ゴシック" panose="020B0400000000000000" pitchFamily="50" charset="-128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ja-JP" sz="1800" b="0" i="0" dirty="0">
              <a:effectLst/>
              <a:latin typeface="游ゴシック" panose="020B0400000000000000" pitchFamily="50" charset="-128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1800" b="0" i="0" dirty="0">
                <a:effectLst/>
                <a:latin typeface="游ゴシック" panose="020B0400000000000000" pitchFamily="50" charset="-128"/>
              </a:rPr>
              <a:t>「</a:t>
            </a:r>
            <a:r>
              <a:rPr lang="en-US" altLang="ja-JP" sz="1800" b="0" i="0" dirty="0" err="1">
                <a:effectLst/>
                <a:latin typeface="游ゴシック" panose="020B0400000000000000" pitchFamily="50" charset="-128"/>
              </a:rPr>
              <a:t>詳細」ボタン</a:t>
            </a:r>
            <a:r>
              <a:rPr lang="en-US" altLang="ja-JP" sz="1800" b="0" i="0" dirty="0">
                <a:effectLst/>
                <a:latin typeface="游ゴシック" panose="020B0400000000000000" pitchFamily="50" charset="-128"/>
              </a:rPr>
              <a:t> : </a:t>
            </a:r>
            <a:r>
              <a:rPr lang="ja-JP" altLang="en-US" dirty="0"/>
              <a:t>押下で詳細画面へ遷移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039350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3F795E6-70BC-9127-58CB-3E019711D23F}"/>
              </a:ext>
            </a:extLst>
          </p:cNvPr>
          <p:cNvSpPr txBox="1"/>
          <p:nvPr/>
        </p:nvSpPr>
        <p:spPr>
          <a:xfrm>
            <a:off x="320675" y="278389"/>
            <a:ext cx="9885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プロジェクト名：</a:t>
            </a:r>
            <a:r>
              <a:rPr kumimoji="1" lang="en-US" altLang="ja-JP" sz="3200" b="1" dirty="0"/>
              <a:t>AI Inquiry Application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F993FFC-D9C3-B866-9BF5-8340BB56B6E5}"/>
              </a:ext>
            </a:extLst>
          </p:cNvPr>
          <p:cNvCxnSpPr/>
          <p:nvPr/>
        </p:nvCxnSpPr>
        <p:spPr>
          <a:xfrm>
            <a:off x="320675" y="1013759"/>
            <a:ext cx="113522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773E04C-196E-A5A0-F9D4-F6CE40E91583}"/>
              </a:ext>
            </a:extLst>
          </p:cNvPr>
          <p:cNvSpPr txBox="1"/>
          <p:nvPr/>
        </p:nvSpPr>
        <p:spPr>
          <a:xfrm>
            <a:off x="320675" y="1238373"/>
            <a:ext cx="436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1.2 </a:t>
            </a:r>
            <a:r>
              <a:rPr lang="ja-JP" altLang="en-US" sz="2400" b="1" dirty="0"/>
              <a:t>システム構成・技術</a:t>
            </a:r>
            <a:endParaRPr lang="en-US" altLang="ja-JP" sz="24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4101FAE-7AFC-F0F8-9357-90C3E25FC7F7}"/>
              </a:ext>
            </a:extLst>
          </p:cNvPr>
          <p:cNvSpPr txBox="1"/>
          <p:nvPr/>
        </p:nvSpPr>
        <p:spPr>
          <a:xfrm>
            <a:off x="320675" y="1702583"/>
            <a:ext cx="1074837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2.    </a:t>
            </a:r>
            <a:r>
              <a:rPr lang="ja-JP" altLang="en-US" sz="2000" dirty="0"/>
              <a:t>画面ごとの操作</a:t>
            </a:r>
            <a:endParaRPr lang="en-US" altLang="ja-JP" sz="2000" dirty="0"/>
          </a:p>
          <a:p>
            <a:endParaRPr lang="en-US" altLang="ja-JP" sz="2000" dirty="0"/>
          </a:p>
          <a:p>
            <a:r>
              <a:rPr lang="ja-JP" altLang="en-US" sz="2000" dirty="0"/>
              <a:t>詳細画面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sz="2000" dirty="0"/>
              <a:t>一覧表示画面から選択した</a:t>
            </a:r>
            <a:r>
              <a:rPr lang="en-US" altLang="ja-JP" sz="2000" dirty="0"/>
              <a:t>ID</a:t>
            </a:r>
            <a:r>
              <a:rPr lang="ja-JP" altLang="en-US" sz="2000" dirty="0"/>
              <a:t>の「詳細」ボタンを押下することで表示される。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sz="2000" dirty="0"/>
              <a:t>選択された問い合わせの詳細情報を順番に閲覧できる。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sz="2000" dirty="0"/>
              <a:t>表示内容</a:t>
            </a:r>
            <a:endParaRPr lang="en-US" altLang="ja-JP" sz="20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000" dirty="0"/>
              <a:t>ID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ja-JP" altLang="en-US" sz="2000" dirty="0"/>
              <a:t>登録時刻</a:t>
            </a:r>
            <a:endParaRPr lang="en-US" altLang="ja-JP" sz="20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ja-JP" altLang="en-US" sz="2000" dirty="0"/>
              <a:t>カテゴリー</a:t>
            </a:r>
            <a:endParaRPr lang="en-US" altLang="ja-JP" sz="20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ja-JP" altLang="en-US" sz="2000" dirty="0"/>
              <a:t>緊急度</a:t>
            </a:r>
            <a:endParaRPr lang="en-US" altLang="ja-JP" sz="20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ja-JP" altLang="en-US" sz="2000" dirty="0"/>
              <a:t>問い合わせ内容</a:t>
            </a:r>
            <a:endParaRPr lang="en-US" altLang="ja-JP" sz="20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ja-JP" altLang="en-US" sz="2000" dirty="0"/>
              <a:t>回答案　などを順番で閲覧できる</a:t>
            </a:r>
            <a:endParaRPr lang="en-US" altLang="ja-JP" sz="20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ja-JP" sz="2000" dirty="0"/>
          </a:p>
          <a:p>
            <a:r>
              <a:rPr lang="ja-JP" altLang="en-US" sz="2000" dirty="0"/>
              <a:t>補足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sz="2000" dirty="0"/>
              <a:t>一覧画面の選択レコードに紐づく詳細情報を表示する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sz="2000" dirty="0"/>
              <a:t>問い合わせ</a:t>
            </a:r>
            <a:r>
              <a:rPr lang="en-US" altLang="ja-JP" sz="2000" dirty="0"/>
              <a:t>1</a:t>
            </a:r>
            <a:r>
              <a:rPr lang="ja-JP" altLang="en-US" sz="2000" dirty="0"/>
              <a:t>件ごとの全情報を確認可能</a:t>
            </a:r>
          </a:p>
          <a:p>
            <a:pPr lvl="1"/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4249392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1BE6065-CD51-83D4-18AF-47C478C0A733}"/>
              </a:ext>
            </a:extLst>
          </p:cNvPr>
          <p:cNvSpPr txBox="1"/>
          <p:nvPr/>
        </p:nvSpPr>
        <p:spPr>
          <a:xfrm>
            <a:off x="320675" y="278389"/>
            <a:ext cx="9885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プロジェクト名：</a:t>
            </a:r>
            <a:r>
              <a:rPr kumimoji="1" lang="en-US" altLang="ja-JP" sz="3200" b="1" dirty="0"/>
              <a:t>AI Inquiry Application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DD14413-58A0-5378-1C1D-3709D5CE0549}"/>
              </a:ext>
            </a:extLst>
          </p:cNvPr>
          <p:cNvCxnSpPr/>
          <p:nvPr/>
        </p:nvCxnSpPr>
        <p:spPr>
          <a:xfrm>
            <a:off x="320675" y="1013759"/>
            <a:ext cx="113522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A12C2F7-265A-F64E-57EE-55729D7E50DE}"/>
              </a:ext>
            </a:extLst>
          </p:cNvPr>
          <p:cNvSpPr txBox="1"/>
          <p:nvPr/>
        </p:nvSpPr>
        <p:spPr>
          <a:xfrm>
            <a:off x="320675" y="1238373"/>
            <a:ext cx="436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1.2 </a:t>
            </a:r>
            <a:r>
              <a:rPr lang="ja-JP" altLang="en-US" sz="2400" b="1" dirty="0"/>
              <a:t>システム構成・技術</a:t>
            </a:r>
            <a:endParaRPr lang="en-US" altLang="ja-JP" sz="2400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258E596-E3BF-3504-7093-EFBE310000F6}"/>
              </a:ext>
            </a:extLst>
          </p:cNvPr>
          <p:cNvSpPr txBox="1"/>
          <p:nvPr/>
        </p:nvSpPr>
        <p:spPr>
          <a:xfrm>
            <a:off x="320675" y="2024861"/>
            <a:ext cx="10668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バックエンド（</a:t>
            </a:r>
            <a:r>
              <a:rPr kumimoji="1" lang="en-US" altLang="ja-JP" dirty="0" err="1"/>
              <a:t>FastAPI</a:t>
            </a:r>
            <a:r>
              <a:rPr kumimoji="1" lang="ja-JP" altLang="en-US" dirty="0"/>
              <a:t>）</a:t>
            </a:r>
          </a:p>
          <a:p>
            <a:endParaRPr kumimoji="1" lang="ja-JP" altLang="en-US" dirty="0"/>
          </a:p>
          <a:p>
            <a:r>
              <a:rPr kumimoji="1" lang="en-US" altLang="ja-JP" dirty="0" err="1"/>
              <a:t>FastAPI</a:t>
            </a:r>
            <a:r>
              <a:rPr kumimoji="1" lang="ja-JP" altLang="en-US" dirty="0"/>
              <a:t>を用いて、以下の</a:t>
            </a:r>
            <a:r>
              <a:rPr kumimoji="1" lang="en-US" altLang="ja-JP" dirty="0"/>
              <a:t>REST API</a:t>
            </a:r>
            <a:r>
              <a:rPr kumimoji="1" lang="ja-JP" altLang="en-US" dirty="0"/>
              <a:t>を実装する。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kumimoji="1" lang="ja-JP" altLang="en-US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en-US" altLang="ja-JP" dirty="0"/>
              <a:t>POST / GET </a:t>
            </a:r>
            <a:r>
              <a:rPr kumimoji="1" lang="ja-JP" altLang="en-US" dirty="0"/>
              <a:t>による問い合わせ管理機能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問い合わせ情報の登録・取得（一覧・詳細）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en-US" altLang="ja-JP" dirty="0"/>
              <a:t>JSON </a:t>
            </a:r>
            <a:r>
              <a:rPr kumimoji="1" lang="ja-JP" altLang="en-US" dirty="0"/>
              <a:t>形式でのデータ処理およびバリデーション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エラーハンドリングによる安全な</a:t>
            </a:r>
            <a:r>
              <a:rPr kumimoji="1" lang="en-US" altLang="ja-JP" dirty="0"/>
              <a:t>API</a:t>
            </a:r>
            <a:r>
              <a:rPr kumimoji="1" lang="ja-JP" altLang="en-US" dirty="0"/>
              <a:t>処理</a:t>
            </a:r>
            <a:endParaRPr kumimoji="1" lang="en-US" altLang="ja-JP" dirty="0"/>
          </a:p>
          <a:p>
            <a:endParaRPr kumimoji="1" lang="ja-JP" altLang="en-US" dirty="0"/>
          </a:p>
          <a:p>
            <a:r>
              <a:rPr kumimoji="1" lang="en-US" altLang="ja-JP" dirty="0"/>
              <a:t>AI</a:t>
            </a:r>
            <a:r>
              <a:rPr kumimoji="1" lang="ja-JP" altLang="en-US" dirty="0"/>
              <a:t>機能（</a:t>
            </a:r>
            <a:r>
              <a:rPr kumimoji="1" lang="en-US" altLang="ja-JP" dirty="0"/>
              <a:t>Gemini API</a:t>
            </a:r>
            <a:r>
              <a:rPr kumimoji="1" lang="ja-JP" altLang="en-US" dirty="0"/>
              <a:t>）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Gemini API </a:t>
            </a:r>
            <a:r>
              <a:rPr kumimoji="1" lang="ja-JP" altLang="en-US" dirty="0"/>
              <a:t>を活用し、問い合わせ内容を自動解析する。</a:t>
            </a:r>
          </a:p>
          <a:p>
            <a:endParaRPr kumimoji="1" lang="ja-JP" altLang="en-US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問い合わせカテゴリーの自動判定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緊急度の自動判定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回答案の自動生成</a:t>
            </a:r>
          </a:p>
        </p:txBody>
      </p:sp>
    </p:spTree>
    <p:extLst>
      <p:ext uri="{BB962C8B-B14F-4D97-AF65-F5344CB8AC3E}">
        <p14:creationId xmlns:p14="http://schemas.microsoft.com/office/powerpoint/2010/main" val="1196364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1BE6065-CD51-83D4-18AF-47C478C0A733}"/>
              </a:ext>
            </a:extLst>
          </p:cNvPr>
          <p:cNvSpPr txBox="1"/>
          <p:nvPr/>
        </p:nvSpPr>
        <p:spPr>
          <a:xfrm>
            <a:off x="320675" y="278389"/>
            <a:ext cx="9885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プロジェクト名：</a:t>
            </a:r>
            <a:r>
              <a:rPr kumimoji="1" lang="en-US" altLang="ja-JP" sz="3200" b="1" dirty="0"/>
              <a:t>AI Inquiry Application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DD14413-58A0-5378-1C1D-3709D5CE0549}"/>
              </a:ext>
            </a:extLst>
          </p:cNvPr>
          <p:cNvCxnSpPr/>
          <p:nvPr/>
        </p:nvCxnSpPr>
        <p:spPr>
          <a:xfrm>
            <a:off x="320675" y="1013759"/>
            <a:ext cx="113522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A12C2F7-265A-F64E-57EE-55729D7E50DE}"/>
              </a:ext>
            </a:extLst>
          </p:cNvPr>
          <p:cNvSpPr txBox="1"/>
          <p:nvPr/>
        </p:nvSpPr>
        <p:spPr>
          <a:xfrm>
            <a:off x="320675" y="1238373"/>
            <a:ext cx="436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1.2 </a:t>
            </a:r>
            <a:r>
              <a:rPr lang="ja-JP" altLang="en-US" sz="2400" b="1" dirty="0"/>
              <a:t>システム構成・技術</a:t>
            </a:r>
            <a:endParaRPr lang="en-US" altLang="ja-JP" sz="2400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63F92A8-8339-37C5-FB27-E92865B65C93}"/>
              </a:ext>
            </a:extLst>
          </p:cNvPr>
          <p:cNvSpPr txBox="1"/>
          <p:nvPr/>
        </p:nvSpPr>
        <p:spPr>
          <a:xfrm>
            <a:off x="320674" y="1924652"/>
            <a:ext cx="1034732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3.    JSON</a:t>
            </a:r>
            <a:r>
              <a:rPr lang="ja-JP" altLang="en-US" sz="2000" dirty="0"/>
              <a:t>形式データ保存</a:t>
            </a:r>
            <a:endParaRPr lang="en-US" altLang="ja-JP" sz="2000" dirty="0"/>
          </a:p>
          <a:p>
            <a:endParaRPr lang="en-US" altLang="ja-JP" sz="2000" dirty="0"/>
          </a:p>
          <a:p>
            <a:r>
              <a:rPr lang="ja-JP" altLang="en-US" sz="2000" dirty="0"/>
              <a:t>実装したメソッド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ja-JP" sz="2000" dirty="0"/>
              <a:t>_load()</a:t>
            </a:r>
            <a:r>
              <a:rPr lang="ja-JP" altLang="en-US" sz="2000" dirty="0"/>
              <a:t> </a:t>
            </a:r>
            <a:r>
              <a:rPr lang="en-US" altLang="ja-JP" sz="2000" dirty="0"/>
              <a:t>:</a:t>
            </a:r>
            <a:r>
              <a:rPr lang="ja-JP" altLang="en-US" sz="2000" dirty="0"/>
              <a:t> </a:t>
            </a:r>
            <a:r>
              <a:rPr lang="en-US" altLang="ja-JP" sz="2000" dirty="0"/>
              <a:t>JSON </a:t>
            </a:r>
            <a:r>
              <a:rPr lang="ja-JP" altLang="en-US" sz="2000" dirty="0"/>
              <a:t>ファイルからデータ読み込む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ja-JP" sz="2000" dirty="0"/>
              <a:t>_save() : JSON </a:t>
            </a:r>
            <a:r>
              <a:rPr lang="ja-JP" altLang="en-US" sz="2000" dirty="0"/>
              <a:t>ファイルへデータを書き込む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ja-JP" sz="2000" dirty="0" err="1"/>
              <a:t>save_inquiry</a:t>
            </a:r>
            <a:r>
              <a:rPr lang="en-US" altLang="ja-JP" sz="2000" dirty="0"/>
              <a:t>() : </a:t>
            </a:r>
            <a:r>
              <a:rPr lang="ja-JP" altLang="en-US" sz="2000" dirty="0"/>
              <a:t>問い合わせ内容を保存し、保存したデータを返す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ja-JP" sz="2000" dirty="0" err="1"/>
              <a:t>get_all_inquiries</a:t>
            </a:r>
            <a:r>
              <a:rPr lang="en-US" altLang="ja-JP" sz="2000" dirty="0"/>
              <a:t>() : </a:t>
            </a:r>
            <a:r>
              <a:rPr lang="ja-JP" altLang="en-US" sz="2000" dirty="0"/>
              <a:t>全問い合わせを新しいい順で返す（登録時刻の降順）</a:t>
            </a: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ja-JP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ja-JP" sz="2000" dirty="0" err="1"/>
              <a:t>get_inquiry_by_id</a:t>
            </a:r>
            <a:r>
              <a:rPr lang="en-US" altLang="ja-JP" sz="2000" dirty="0"/>
              <a:t>() : </a:t>
            </a:r>
            <a:r>
              <a:rPr lang="ja-JP" altLang="en-US" sz="2000" dirty="0"/>
              <a:t>選択した </a:t>
            </a:r>
            <a:r>
              <a:rPr lang="en-US" altLang="ja-JP" sz="2000" dirty="0"/>
              <a:t>ID </a:t>
            </a:r>
            <a:r>
              <a:rPr lang="ja-JP" altLang="en-US" sz="2000" dirty="0"/>
              <a:t>で問い合わせを取得する</a:t>
            </a:r>
            <a:endParaRPr lang="en-US" altLang="ja-JP" sz="2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6E495CB-C344-21DF-02C1-95AFCEA53719}"/>
              </a:ext>
            </a:extLst>
          </p:cNvPr>
          <p:cNvSpPr txBox="1"/>
          <p:nvPr/>
        </p:nvSpPr>
        <p:spPr>
          <a:xfrm>
            <a:off x="714261" y="6117946"/>
            <a:ext cx="1056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dirty="0">
                <a:solidFill>
                  <a:srgbClr val="FF0000"/>
                </a:solidFill>
              </a:rPr>
              <a:t>*</a:t>
            </a:r>
            <a:r>
              <a:rPr lang="ja-JP" altLang="en-US" sz="2400" b="1" dirty="0">
                <a:solidFill>
                  <a:srgbClr val="FF0000"/>
                </a:solidFill>
              </a:rPr>
              <a:t>過去の回答は永続的に保存され、参照可能となる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16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3F795E6-70BC-9127-58CB-3E019711D23F}"/>
              </a:ext>
            </a:extLst>
          </p:cNvPr>
          <p:cNvSpPr txBox="1"/>
          <p:nvPr/>
        </p:nvSpPr>
        <p:spPr>
          <a:xfrm>
            <a:off x="320675" y="278389"/>
            <a:ext cx="9885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プロジェクト名：</a:t>
            </a:r>
            <a:r>
              <a:rPr kumimoji="1" lang="en-US" altLang="ja-JP" sz="3200" b="1" dirty="0"/>
              <a:t>AI Inquiry Application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F993FFC-D9C3-B866-9BF5-8340BB56B6E5}"/>
              </a:ext>
            </a:extLst>
          </p:cNvPr>
          <p:cNvCxnSpPr/>
          <p:nvPr/>
        </p:nvCxnSpPr>
        <p:spPr>
          <a:xfrm>
            <a:off x="320675" y="1013759"/>
            <a:ext cx="113522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AB9E45B-076C-556F-C3DF-DE513E137506}"/>
              </a:ext>
            </a:extLst>
          </p:cNvPr>
          <p:cNvSpPr txBox="1"/>
          <p:nvPr/>
        </p:nvSpPr>
        <p:spPr>
          <a:xfrm>
            <a:off x="320675" y="1238373"/>
            <a:ext cx="436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1.3 </a:t>
            </a:r>
            <a:r>
              <a:rPr lang="ja-JP" altLang="en-US" sz="2400" b="1" dirty="0"/>
              <a:t>デモ・画面</a:t>
            </a:r>
            <a:endParaRPr lang="en-US" altLang="ja-JP" sz="2400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6ECBDDC-CBB0-9DC3-ABED-75D320C5B1F4}"/>
              </a:ext>
            </a:extLst>
          </p:cNvPr>
          <p:cNvSpPr txBox="1"/>
          <p:nvPr/>
        </p:nvSpPr>
        <p:spPr>
          <a:xfrm>
            <a:off x="813480" y="3429000"/>
            <a:ext cx="10565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>
                <a:solidFill>
                  <a:srgbClr val="FF0000"/>
                </a:solidFill>
              </a:rPr>
              <a:t>実際に実行していきましょう</a:t>
            </a:r>
          </a:p>
        </p:txBody>
      </p:sp>
    </p:spTree>
    <p:extLst>
      <p:ext uri="{BB962C8B-B14F-4D97-AF65-F5344CB8AC3E}">
        <p14:creationId xmlns:p14="http://schemas.microsoft.com/office/powerpoint/2010/main" val="3301265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E3E6BC0-24C6-206C-7366-0A29B11C2256}"/>
              </a:ext>
            </a:extLst>
          </p:cNvPr>
          <p:cNvSpPr txBox="1"/>
          <p:nvPr/>
        </p:nvSpPr>
        <p:spPr>
          <a:xfrm>
            <a:off x="320675" y="278389"/>
            <a:ext cx="9885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プロジェクト名：</a:t>
            </a:r>
            <a:r>
              <a:rPr kumimoji="1" lang="en-US" altLang="ja-JP" sz="3200" b="1" dirty="0"/>
              <a:t>AI Inquiry Application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39263E0-C819-760E-7BBD-2450DB7D9B26}"/>
              </a:ext>
            </a:extLst>
          </p:cNvPr>
          <p:cNvCxnSpPr/>
          <p:nvPr/>
        </p:nvCxnSpPr>
        <p:spPr>
          <a:xfrm>
            <a:off x="320675" y="1013759"/>
            <a:ext cx="113522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0E9062E-C9C4-7364-6501-9179645FAAD3}"/>
              </a:ext>
            </a:extLst>
          </p:cNvPr>
          <p:cNvSpPr txBox="1"/>
          <p:nvPr/>
        </p:nvSpPr>
        <p:spPr>
          <a:xfrm>
            <a:off x="320675" y="1286499"/>
            <a:ext cx="4251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2.    </a:t>
            </a:r>
            <a:r>
              <a:rPr lang="ja-JP" altLang="en-US" sz="2400" b="1" dirty="0"/>
              <a:t>勉強になったこと</a:t>
            </a:r>
            <a:endParaRPr lang="en-US" altLang="ja-JP" sz="2400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F99B1C5-885C-0444-7F09-B30DDEEF0382}"/>
              </a:ext>
            </a:extLst>
          </p:cNvPr>
          <p:cNvSpPr txBox="1"/>
          <p:nvPr/>
        </p:nvSpPr>
        <p:spPr>
          <a:xfrm>
            <a:off x="320675" y="2024861"/>
            <a:ext cx="10668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システム開発の基本姿勢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上流工程の重要性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工数・スケジュール管理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要件と設計の関係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設計・説明力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AI</a:t>
            </a:r>
            <a:r>
              <a:rPr lang="ja-JP" altLang="en-US" dirty="0"/>
              <a:t>の活用方法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プロジェクト意識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技術面（</a:t>
            </a:r>
            <a:r>
              <a:rPr lang="en-US" altLang="ja-JP" dirty="0"/>
              <a:t>Python</a:t>
            </a:r>
            <a:r>
              <a:rPr lang="ja-JP" altLang="en-US" dirty="0"/>
              <a:t>）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50010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735</Words>
  <Application>Microsoft Office PowerPoint</Application>
  <PresentationFormat>ワイド画面</PresentationFormat>
  <Paragraphs>131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游ゴシック</vt:lpstr>
      <vt:lpstr>游ゴシック Light</vt:lpstr>
      <vt:lpstr>Arial</vt:lpstr>
      <vt:lpstr>Calibri</vt:lpstr>
      <vt:lpstr>Consolas</vt:lpstr>
      <vt:lpstr>Wingdings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Owner</dc:creator>
  <cp:lastModifiedBy>Owner</cp:lastModifiedBy>
  <cp:revision>4</cp:revision>
  <dcterms:created xsi:type="dcterms:W3CDTF">2026-05-20T01:19:37Z</dcterms:created>
  <dcterms:modified xsi:type="dcterms:W3CDTF">2026-05-20T05:55:49Z</dcterms:modified>
</cp:coreProperties>
</file>